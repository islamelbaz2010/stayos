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051560"/>
            <a:ext cx="109728" cy="4389120"/>
          </a:xfrm>
          <a:prstGeom prst="rect">
            <a:avLst/>
          </a:prstGeom>
          <a:solidFill>
            <a:srgbClr val="309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43000"/>
            <a:ext cx="10424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MANAGEMENT 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D2E1F0"/>
                </a:solidFill>
                <a:latin typeface="Arial"/>
              </a:defRPr>
            </a:pPr>
            <a:r>
              <a:t>StayOS — Before vs After the Product Version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6324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What we agreed to build • What actually got built • What the audit changed • What is NOT cancelled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2578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4C3D7"/>
                </a:solidFill>
                <a:latin typeface="Arial"/>
              </a:defRPr>
            </a:pPr>
            <a:r>
              <a:t>14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6"/>
                </a:solidFill>
                <a:latin typeface="Arial"/>
              </a:defRPr>
            </a:pPr>
            <a:r>
              <a:t>EXECUTIVE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978"/>
                </a:solidFill>
                <a:latin typeface="Arial"/>
              </a:defRPr>
            </a:pPr>
            <a:r>
              <a:t>The audit did not cancel the supply strategy — it changed the priority of execution.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82296" cy="1828800"/>
          </a:xfrm>
          <a:prstGeom prst="rect">
            <a:avLst/>
          </a:prstGeom>
          <a:solidFill>
            <a:srgbClr val="27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WHAT WE AGREED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91E24"/>
                </a:solidFill>
                <a:latin typeface="Arial"/>
              </a:defRPr>
            </a:pPr>
            <a:r>
              <a:t>Build a supply-acquisition path that can discover property candidates from public sources, import/seed them, and use owner outreach to convert them into real StayOS inventory.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2900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417320"/>
            <a:ext cx="82296" cy="1828800"/>
          </a:xfrm>
          <a:prstGeom prst="rect">
            <a:avLst/>
          </a:prstGeom>
          <a:solidFill>
            <a:srgbClr val="2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5819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WHAT GOT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07568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91E24"/>
                </a:solidFill>
                <a:latin typeface="Arial"/>
              </a:defRPr>
            </a:pPr>
            <a:r>
              <a:t>Discovery Engine + CSV/Excel importer + owner outreach flow are now part of the product/tooling. Discovery is explicitly classified as a supply-activation admin tool.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2900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82296" cy="1828800"/>
          </a:xfrm>
          <a:prstGeom prst="rect">
            <a:avLst/>
          </a:prstGeom>
          <a:solidFill>
            <a:srgbClr val="D6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5819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WHAT THE AUDIT CHANGED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7568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91E24"/>
                </a:solidFill>
                <a:latin typeface="Arial"/>
              </a:defRPr>
            </a:pPr>
            <a:r>
              <a:t>The bottleneck is no longer 'build supply tooling'. It is deployment + real host acquisition + real bookings. The next step is execution, not another supply feature.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57600"/>
            <a:ext cx="1078992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657600"/>
            <a:ext cx="82296" cy="1508760"/>
          </a:xfrm>
          <a:prstGeom prst="rect">
            <a:avLst/>
          </a:prstGeom>
          <a:solidFill>
            <a:srgbClr val="309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22191"/>
            <a:ext cx="10378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BOTTOM 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15968"/>
            <a:ext cx="1037844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91E24"/>
                </a:solidFill>
                <a:latin typeface="Arial"/>
              </a:defRPr>
            </a:pPr>
            <a:r>
              <a:t>Nothing important from the supply plan was cancelled. Some items were reclassified: the discovery engine is V1-enabling tooling; unclaimed-listing/claim UX is deferred to V2; real owner recruitment is now a management execution task.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978"/>
                </a:solidFill>
                <a:latin typeface="Arial"/>
              </a:defRPr>
            </a:pPr>
            <a:r>
              <a:t>StayOS • Management Situation • 14 Aug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6"/>
                </a:solidFill>
                <a:latin typeface="Arial"/>
              </a:defRPr>
            </a:pPr>
            <a:r>
              <a:t>WHAT WE WERE WORKING TOWARD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978"/>
                </a:solidFill>
                <a:latin typeface="Arial"/>
              </a:defRPr>
            </a:pPr>
            <a:r>
              <a:t>Supply acquisition was never just 'scrape listings and publish them'.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169164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82296" cy="1691640"/>
          </a:xfrm>
          <a:prstGeom prst="rect">
            <a:avLst/>
          </a:prstGeom>
          <a:solidFill>
            <a:srgbClr val="27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1. 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91E24"/>
                </a:solidFill>
                <a:latin typeface="Arial"/>
              </a:defRPr>
            </a:pPr>
            <a:r>
              <a:t>Find property candidates from public sources / maps / directories.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169164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82296" cy="1691640"/>
          </a:xfrm>
          <a:prstGeom prst="rect">
            <a:avLst/>
          </a:prstGeom>
          <a:solidFill>
            <a:srgbClr val="309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2. NORMALIZE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75688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91E24"/>
                </a:solidFill>
                <a:latin typeface="Arial"/>
              </a:defRPr>
            </a:pPr>
            <a:r>
              <a:t>Clean, score and deduplicate candidates.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383280" cy="169164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82296" cy="1691640"/>
          </a:xfrm>
          <a:prstGeom prst="rect">
            <a:avLst/>
          </a:prstGeom>
          <a:solidFill>
            <a:srgbClr val="2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3. IMPORT / SEED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75688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91E24"/>
                </a:solidFill>
                <a:latin typeface="Arial"/>
              </a:defRPr>
            </a:pPr>
            <a:r>
              <a:t>Bring candidate data into StayOS through the admin importer.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74720"/>
            <a:ext cx="3383280" cy="169164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474720"/>
            <a:ext cx="82296" cy="1691640"/>
          </a:xfrm>
          <a:prstGeom prst="rect">
            <a:avLst/>
          </a:prstGeom>
          <a:solidFill>
            <a:srgbClr val="D6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6393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4. CONTACT 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33087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91E24"/>
                </a:solidFill>
                <a:latin typeface="Arial"/>
              </a:defRPr>
            </a:pPr>
            <a:r>
              <a:t>Use outreach to identify the real owner/operator and invite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474720"/>
            <a:ext cx="3383280" cy="169164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474720"/>
            <a:ext cx="82296" cy="1691640"/>
          </a:xfrm>
          <a:prstGeom prst="rect">
            <a:avLst/>
          </a:prstGeom>
          <a:solidFill>
            <a:srgbClr val="27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6393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5. VERIFY + ONBOARD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133087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91E24"/>
                </a:solidFill>
                <a:latin typeface="Arial"/>
              </a:defRPr>
            </a:pPr>
            <a:r>
              <a:t>Owner provides/validates data, KYC and listing details; admin approves.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474720"/>
            <a:ext cx="3383280" cy="169164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3474720"/>
            <a:ext cx="82296" cy="1691640"/>
          </a:xfrm>
          <a:prstGeom prst="rect">
            <a:avLst/>
          </a:prstGeom>
          <a:solidFill>
            <a:srgbClr val="2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6393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6. LISTED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133087"/>
            <a:ext cx="2971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91E24"/>
                </a:solidFill>
                <a:latin typeface="Arial"/>
              </a:defRPr>
            </a:pPr>
            <a:r>
              <a:t>Only then does the unit become real StayOS supply.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978"/>
                </a:solidFill>
                <a:latin typeface="Arial"/>
              </a:defRPr>
            </a:pPr>
            <a:r>
              <a:t>StayOS • Management Situation • 14 Aug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6"/>
                </a:solidFill>
                <a:latin typeface="Arial"/>
              </a:defRPr>
            </a:pPr>
            <a:r>
              <a:t>WHAT ACTUALLY GOT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978"/>
                </a:solidFill>
                <a:latin typeface="Arial"/>
              </a:defRPr>
            </a:pPr>
            <a:r>
              <a:t>Evidence from the 14 Aug Product Version Audit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32588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5486400"/>
              </a:tblGrid>
              <a:tr h="56578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Capability</a:t>
                      </a:r>
                    </a:p>
                  </a:txBody>
                  <a:tcPr marL="54864" marR="54864" marT="36576" marB="36576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Current state</a:t>
                      </a:r>
                    </a:p>
                  </a:txBody>
                  <a:tcPr marL="54864" marR="54864" marT="36576" marB="36576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Management meaning</a:t>
                      </a:r>
                    </a:p>
                  </a:txBody>
                  <a:tcPr marL="54864" marR="54864" marT="36576" marB="36576">
                    <a:solidFill>
                      <a:srgbClr val="111F36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Discovery Engine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Code complete; admin surface exists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READY as a supply-activation tool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OSM / Google Places adapters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Implemented interfaces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Can generate property candidates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Scoring / deduplication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Implemented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Reduces duplicate / low-quality candidates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CSV / Excel importer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Code complete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Bulk seed path exists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Owner outreach template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Implemented in P0 work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Converts candidates into conversations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Listing lifecycle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PENDING → REVIEW → LISTED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Verification remains a gate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Real supply acquisition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0 real listings / 0 hosts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NOT STARTED operationally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978"/>
                </a:solidFill>
                <a:latin typeface="Arial"/>
              </a:defRPr>
            </a:pPr>
            <a:r>
              <a:t>StayOS • Management Situation • 14 Aug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6"/>
                </a:solidFill>
                <a:latin typeface="Arial"/>
              </a:defRPr>
            </a:pPr>
            <a:r>
              <a:t>WHAT CHANGED AFTER THE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978"/>
                </a:solidFill>
                <a:latin typeface="Arial"/>
              </a:defRPr>
            </a:pPr>
            <a:r>
              <a:t>The biggest change is priority, not product direction.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325880"/>
          <a:ext cx="10972799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749039"/>
                <a:gridCol w="3383280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Before / working assumption</a:t>
                      </a:r>
                    </a:p>
                  </a:txBody>
                  <a:tcPr marL="54864" marR="54864" marT="36576" marB="36576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After audit</a:t>
                      </a:r>
                    </a:p>
                  </a:txBody>
                  <a:tcPr marL="54864" marR="54864" marT="36576" marB="36576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Decision</a:t>
                      </a:r>
                    </a:p>
                  </a:txBody>
                  <a:tcPr marL="54864" marR="54864" marT="36576" marB="36576">
                    <a:solidFill>
                      <a:srgbClr val="111F36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More supply tooling may be needed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Supply tooling is already sufficient for alpha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STOP adding supply features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Build toward a polished marketplace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Core booking loop is code-complete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MOVE to deployment + real use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Internet discovery is a product feature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Discovery is an admin supply-activation tool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KEEP, but do not overbuild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Unclaimed listings / claim UX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Useful, but explicitly deferred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WAIT for V2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Need to prove the marketplace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Need real hosts, listings, bookings, payouts, NPS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START now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5715000"/>
            <a:ext cx="10515600" cy="530352"/>
          </a:xfrm>
          <a:prstGeom prst="roundRect">
            <a:avLst/>
          </a:prstGeom>
          <a:solidFill>
            <a:srgbClr val="FCF2F2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5715000"/>
            <a:ext cx="82296" cy="530352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879592"/>
            <a:ext cx="10104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MANAGEMENT SHIFT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373368"/>
            <a:ext cx="10104120" cy="-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91E24"/>
                </a:solidFill>
                <a:latin typeface="Arial"/>
              </a:defRPr>
            </a:pPr>
            <a:r>
              <a:t>Engineering → Operations / Commercial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978"/>
                </a:solidFill>
                <a:latin typeface="Arial"/>
              </a:defRPr>
            </a:pPr>
            <a:r>
              <a:t>StayOS • Management Situation • 14 Aug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6"/>
                </a:solidFill>
                <a:latin typeface="Arial"/>
              </a:defRPr>
            </a:pPr>
            <a:r>
              <a:t>THE IMPORTANT DISTINCTION: CANDIDATE ≠ LISTING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978"/>
                </a:solidFill>
                <a:latin typeface="Arial"/>
              </a:defRPr>
            </a:pPr>
            <a:r>
              <a:t>This is the point most likely to be forgotten after the audit.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82296" cy="3337560"/>
          </a:xfrm>
          <a:prstGeom prst="rect">
            <a:avLst/>
          </a:prstGeom>
          <a:solidFill>
            <a:srgbClr val="27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PUBLIC-WEB CANDIDATE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29718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91E24"/>
                </a:solidFill>
                <a:latin typeface="Arial"/>
              </a:defRPr>
            </a:pPr>
            <a:r>
              <a:t>A discoverable property/place found through OSM, Google Places, or other permitted public sources.</a:t>
            </a:r>
            <a:br/>
            <a:br/>
            <a:r>
              <a:t>Useful for finding supply. Not yet a verified StayOS listing.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417320"/>
            <a:ext cx="338328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417320"/>
            <a:ext cx="82296" cy="3337560"/>
          </a:xfrm>
          <a:prstGeom prst="rect">
            <a:avLst/>
          </a:prstGeom>
          <a:solidFill>
            <a:srgbClr val="D6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OWNER / OPERATOR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075688"/>
            <a:ext cx="29718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91E24"/>
                </a:solidFill>
                <a:latin typeface="Arial"/>
              </a:defRPr>
            </a:pPr>
            <a:r>
              <a:t>Candidate is converted through outreach, owner participation, accurate data, KYC and listing approval.</a:t>
            </a:r>
            <a:br/>
            <a:br/>
            <a:r>
              <a:t>This is the commercial step that has NOT started.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417320"/>
            <a:ext cx="338328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9016" y="1417320"/>
            <a:ext cx="82296" cy="3337560"/>
          </a:xfrm>
          <a:prstGeom prst="rect">
            <a:avLst/>
          </a:prstGeom>
          <a:solidFill>
            <a:srgbClr val="2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58191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LIVE STAYOS LISTING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2075688"/>
            <a:ext cx="29718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91E24"/>
                </a:solidFill>
                <a:latin typeface="Arial"/>
              </a:defRPr>
            </a:pPr>
            <a:r>
              <a:t>Verified listing approved by admin and suitable for guests to search and book.</a:t>
            </a:r>
            <a:br/>
            <a:br/>
            <a:r>
              <a:t>V1 requires real supply, not just discovered candidates.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10332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11F36"/>
                </a:solidFill>
                <a:latin typeface="Arial"/>
              </a:defRPr>
            </a:pPr>
            <a:r>
              <a:t>Management interpretation: the internet-discovery engine remains valid, but it is an acquisition instrument — not permission to publish third-party inventory as if it were owner-approved supply.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978"/>
                </a:solidFill>
                <a:latin typeface="Arial"/>
              </a:defRPr>
            </a:pPr>
            <a:r>
              <a:t>StayOS • Management Situation • 14 Aug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6"/>
                </a:solidFill>
                <a:latin typeface="Arial"/>
              </a:defRPr>
            </a:pPr>
            <a:r>
              <a:t>SUPPLY WORK: DONE vs REMAINING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978"/>
                </a:solidFill>
                <a:latin typeface="Arial"/>
              </a:defRPr>
            </a:pPr>
            <a:r>
              <a:t>The gap moved from software to execution.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325880"/>
          <a:ext cx="109728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828800"/>
                <a:gridCol w="57607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Workstream</a:t>
                      </a:r>
                    </a:p>
                  </a:txBody>
                  <a:tcPr marL="54864" marR="54864" marT="36576" marB="36576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Done?</a:t>
                      </a:r>
                    </a:p>
                  </a:txBody>
                  <a:tcPr marL="54864" marR="54864" marT="36576" marB="36576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Remaining</a:t>
                      </a:r>
                    </a:p>
                  </a:txBody>
                  <a:tcPr marL="54864" marR="54864" marT="36576" marB="36576">
                    <a:solidFill>
                      <a:srgbClr val="111F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Discovery / candidate generation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Run it against real sources and review candidates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Normalization / dedup / scoring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Operationally use the output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Bulk import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YES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Seed actual candidate inventory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Owner outreach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TOOL READY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Founder must contact owners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Owner participation / claim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Commercial conversion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KYC + listing completion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YES (workflow)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Run with real hosts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Admin approval → LISTED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YES (workflow)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Process real units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40+ New Cairo live listings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MVP Gate requirement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978"/>
                </a:solidFill>
                <a:latin typeface="Arial"/>
              </a:defRPr>
            </a:pPr>
            <a:r>
              <a:t>StayOS • Management Situation • 14 Aug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6"/>
                </a:solidFill>
                <a:latin typeface="Arial"/>
              </a:defRPr>
            </a:pPr>
            <a:r>
              <a:t>WHY THIS MATTERS FOR 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978"/>
                </a:solidFill>
                <a:latin typeface="Arial"/>
              </a:defRPr>
            </a:pPr>
            <a:r>
              <a:t>The audit redefined the finish line as operating proof, not code completeness.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166360" cy="3977639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82296" cy="3977639"/>
          </a:xfrm>
          <a:prstGeom prst="rect">
            <a:avLst/>
          </a:prstGeom>
          <a:solidFill>
            <a:srgbClr val="2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V1 / MVP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9967"/>
            <a:ext cx="475488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91E24"/>
                </a:solidFill>
                <a:latin typeface="Arial"/>
              </a:defRPr>
            </a:pPr>
            <a:r>
              <a:t>• 40+ live listings in New Cairo</a:t>
            </a:r>
            <a:br/>
            <a:r>
              <a:t>• 7+ completed bookings</a:t>
            </a:r>
            <a:br/>
            <a:r>
              <a:t>• EGP payment collected</a:t>
            </a:r>
            <a:br/>
            <a:r>
              <a:t>• 5+ host payouts</a:t>
            </a:r>
            <a:br/>
            <a:r>
              <a:t>• 0 fraud incidents</a:t>
            </a:r>
            <a:br/>
            <a:r>
              <a:t>• Guest NPS ≥ 50</a:t>
            </a:r>
            <a:br/>
            <a:r>
              <a:t>• Host NPS ≥ 50</a:t>
            </a:r>
            <a:br/>
            <a:r>
              <a:t>• Operations playbook</a:t>
            </a:r>
            <a:br/>
            <a:r>
              <a:t>• Ops hire identified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371600"/>
            <a:ext cx="5166360" cy="3977639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1371600"/>
            <a:ext cx="82296" cy="3977639"/>
          </a:xfrm>
          <a:prstGeom prst="rect">
            <a:avLst/>
          </a:prstGeom>
          <a:solidFill>
            <a:srgbClr val="27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3619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WHAT THIS MEANS FOR SUPPLY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029967"/>
            <a:ext cx="475488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91E24"/>
                </a:solidFill>
                <a:latin typeface="Arial"/>
              </a:defRPr>
            </a:pPr>
            <a:r>
              <a:t>The Discovery Engine is not the goal.</a:t>
            </a:r>
            <a:br/>
            <a:br/>
            <a:r>
              <a:t>The goal is to turn candidates into verified, bookable inventory.</a:t>
            </a:r>
            <a:br/>
            <a:br/>
            <a:r>
              <a:t>Therefore:</a:t>
            </a:r>
            <a:br/>
            <a:r>
              <a:t>1. Run discovery.</a:t>
            </a:r>
            <a:br/>
            <a:r>
              <a:t>2. Contact owners.</a:t>
            </a:r>
            <a:br/>
            <a:r>
              <a:t>3. Onboard hosts.</a:t>
            </a:r>
            <a:br/>
            <a:r>
              <a:t>4. Publish verified listings.</a:t>
            </a:r>
            <a:br/>
            <a:r>
              <a:t>5. Track bookings.</a:t>
            </a:r>
            <a:br/>
            <a:br/>
            <a:r>
              <a:t>No new discovery architecture is justified now.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978"/>
                </a:solidFill>
                <a:latin typeface="Arial"/>
              </a:defRPr>
            </a:pPr>
            <a:r>
              <a:t>StayOS • Management Situation • 14 Aug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6"/>
                </a:solidFill>
                <a:latin typeface="Arial"/>
              </a:defRPr>
            </a:pPr>
            <a:r>
              <a:t>WHAT WAS NOT CANCELLED — ONLY MOVED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978"/>
                </a:solidFill>
                <a:latin typeface="Arial"/>
              </a:defRPr>
            </a:pPr>
            <a:r>
              <a:t>The audit explicitly protects scope discipline.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325880"/>
          <a:ext cx="109728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017520"/>
                <a:gridCol w="4114800"/>
              </a:tblGrid>
              <a:tr h="4617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Item</a:t>
                      </a:r>
                    </a:p>
                  </a:txBody>
                  <a:tcPr marL="54864" marR="54864" marT="36576" marB="36576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Current placement</a:t>
                      </a:r>
                    </a:p>
                  </a:txBody>
                  <a:tcPr marL="54864" marR="54864" marT="36576" marB="36576">
                    <a:solidFill>
                      <a:srgbClr val="111F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36576" marB="36576">
                    <a:solidFill>
                      <a:srgbClr val="111F36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Discovery Engine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V1 / supply activation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KEEP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CSV / Excel bulk import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V1 / supply activation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KEEP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Owner outreach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V1 operations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DO NOW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Unclaimed listing + claim workflow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V2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WAIT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Duplicate automation enhancements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V2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WAIT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Map-based search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V2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WAIT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Egyptian wallet payments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V2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WAIT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Reviews &amp; Ratings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V2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WAIT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Mobile / messaging / scale tooling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V3+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91E24"/>
                          </a:solidFill>
                          <a:latin typeface="Arial"/>
                        </a:defRPr>
                      </a:pPr>
                      <a:r>
                        <a:t>WAIT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978"/>
                </a:solidFill>
                <a:latin typeface="Arial"/>
              </a:defRPr>
            </a:pPr>
            <a:r>
              <a:t>StayOS • Management Situation • 14 Aug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6"/>
                </a:solidFill>
                <a:latin typeface="Arial"/>
              </a:defRPr>
            </a:pPr>
            <a:r>
              <a:t>CURRENT MANAGEMENT SITUATION — 14 AUG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978"/>
                </a:solidFill>
                <a:latin typeface="Arial"/>
              </a:defRPr>
            </a:pPr>
            <a:r>
              <a:t>The project is at the threshold between code completion and real-world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80160"/>
            <a:ext cx="10698480" cy="420624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380744"/>
            <a:ext cx="164592" cy="164592"/>
          </a:xfrm>
          <a:prstGeom prst="ellipse">
            <a:avLst/>
          </a:prstGeom>
          <a:solidFill>
            <a:srgbClr val="D6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325880"/>
            <a:ext cx="9784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F36"/>
                </a:solidFill>
                <a:latin typeface="Arial"/>
              </a:defRPr>
            </a:pPr>
            <a:r>
              <a:t>V1 STATUS: YELLOW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47088"/>
            <a:ext cx="10698480" cy="420624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947672"/>
            <a:ext cx="164592" cy="164592"/>
          </a:xfrm>
          <a:prstGeom prst="ellipse">
            <a:avLst/>
          </a:prstGeom>
          <a:solidFill>
            <a:srgbClr val="27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892807"/>
            <a:ext cx="9784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F36"/>
                </a:solidFill>
                <a:latin typeface="Arial"/>
              </a:defRPr>
            </a:pPr>
            <a:r>
              <a:t>CURRENT STAGE: Code-Complete Pre-Alpha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14015"/>
            <a:ext cx="10698480" cy="420624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2514599"/>
            <a:ext cx="164592" cy="164592"/>
          </a:xfrm>
          <a:prstGeom prst="ellipse">
            <a:avLst/>
          </a:prstGeom>
          <a:solidFill>
            <a:srgbClr val="2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459735"/>
            <a:ext cx="9784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F36"/>
                </a:solidFill>
                <a:latin typeface="Arial"/>
              </a:defRPr>
            </a:pPr>
            <a:r>
              <a:t>PRODUCT: Core booking loop code-complete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980944"/>
            <a:ext cx="10698480" cy="420624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3081527"/>
            <a:ext cx="164592" cy="164592"/>
          </a:xfrm>
          <a:prstGeom prst="ellipse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026663"/>
            <a:ext cx="9784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F36"/>
                </a:solidFill>
                <a:latin typeface="Arial"/>
              </a:defRPr>
            </a:pPr>
            <a:r>
              <a:t>TECHNOLOGY: Deployment-ready, environment not provisioned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47872"/>
            <a:ext cx="10698480" cy="420624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3648456"/>
            <a:ext cx="164592" cy="164592"/>
          </a:xfrm>
          <a:prstGeom prst="ellipse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3593591"/>
            <a:ext cx="9784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F36"/>
                </a:solidFill>
                <a:latin typeface="Arial"/>
              </a:defRPr>
            </a:pPr>
            <a:r>
              <a:t>COMMERCIAL: 0 hosts / 0 listings / 0 bookings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114800"/>
            <a:ext cx="10698480" cy="420624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4215384"/>
            <a:ext cx="164592" cy="164592"/>
          </a:xfrm>
          <a:prstGeom prst="ellipse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160520"/>
            <a:ext cx="9784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F36"/>
                </a:solidFill>
                <a:latin typeface="Arial"/>
              </a:defRPr>
            </a:pPr>
            <a:r>
              <a:t>VALIDATION: 0 real-world users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681727"/>
            <a:ext cx="10698480" cy="420624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4782312"/>
            <a:ext cx="164592" cy="164592"/>
          </a:xfrm>
          <a:prstGeom prst="ellipse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727447"/>
            <a:ext cx="9784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F36"/>
                </a:solidFill>
                <a:latin typeface="Arial"/>
              </a:defRPr>
            </a:pPr>
            <a:r>
              <a:t>CRITICAL BLOCKER: No running environment + no real credentials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248656"/>
            <a:ext cx="10698480" cy="420624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0120" y="5349240"/>
            <a:ext cx="164592" cy="164592"/>
          </a:xfrm>
          <a:prstGeom prst="ellipse">
            <a:avLst/>
          </a:prstGeom>
          <a:solidFill>
            <a:srgbClr val="309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5294376"/>
            <a:ext cx="97840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11F36"/>
                </a:solidFill>
                <a:latin typeface="Arial"/>
              </a:defRPr>
            </a:pPr>
            <a:r>
              <a:t>NEXT GATE: Closed Alpha → first real host + first real listing + first real guest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978"/>
                </a:solidFill>
                <a:latin typeface="Arial"/>
              </a:defRPr>
            </a:pPr>
            <a:r>
              <a:t>StayOS • Management Situation • 14 Aug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6"/>
                </a:solidFill>
                <a:latin typeface="Arial"/>
              </a:defRPr>
            </a:pPr>
            <a:r>
              <a:t>CRITICAL PATH — WHAT WE SHOULD DO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978"/>
                </a:solidFill>
                <a:latin typeface="Arial"/>
              </a:defRPr>
            </a:pPr>
            <a:r>
              <a:t>Shortest path to the next meaningful gate.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234440"/>
            <a:ext cx="475488" cy="475488"/>
          </a:xfrm>
          <a:prstGeom prst="ellipse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16736"/>
            <a:ext cx="4754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21615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Provision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216152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91E24"/>
                </a:solidFill>
                <a:latin typeface="Arial"/>
              </a:defRPr>
            </a:pPr>
            <a:r>
              <a:t>No users can operate until the platform is live.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984248"/>
            <a:ext cx="475488" cy="475488"/>
          </a:xfrm>
          <a:prstGeom prst="ellipse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66543"/>
            <a:ext cx="4754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9659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Configure real credentials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96596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91E24"/>
                </a:solidFill>
                <a:latin typeface="Arial"/>
              </a:defRPr>
            </a:pPr>
            <a:r>
              <a:t>Prove OTP, storage, KYC and notifications against real services.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734056"/>
            <a:ext cx="475488" cy="475488"/>
          </a:xfrm>
          <a:prstGeom prst="ellipse">
            <a:avLst/>
          </a:prstGeom>
          <a:solidFill>
            <a:srgbClr val="27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16352"/>
            <a:ext cx="4754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71576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Run live smoke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715768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91E24"/>
                </a:solidFill>
                <a:latin typeface="Arial"/>
              </a:defRPr>
            </a:pPr>
            <a:r>
              <a:t>Move from code confidence to environment confidence.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483864"/>
            <a:ext cx="475488" cy="475488"/>
          </a:xfrm>
          <a:prstGeom prst="ellipse">
            <a:avLst/>
          </a:prstGeom>
          <a:solidFill>
            <a:srgbClr val="D6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66160"/>
            <a:ext cx="4754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465576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Run discovery + recruit hosts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465576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91E24"/>
                </a:solidFill>
                <a:latin typeface="Arial"/>
              </a:defRPr>
            </a:pPr>
            <a:r>
              <a:t>Turn candidates into verified New Cairo supply.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233672"/>
            <a:ext cx="475488" cy="475488"/>
          </a:xfrm>
          <a:prstGeom prst="ellipse">
            <a:avLst/>
          </a:prstGeom>
          <a:solidFill>
            <a:srgbClr val="2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15968"/>
            <a:ext cx="4754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21538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Publish first real listings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4215384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91E24"/>
                </a:solidFill>
                <a:latin typeface="Arial"/>
              </a:defRPr>
            </a:pPr>
            <a:r>
              <a:t>Start the marketplace with real inventory.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4983479"/>
            <a:ext cx="475488" cy="475488"/>
          </a:xfrm>
          <a:prstGeom prst="ellipse">
            <a:avLst/>
          </a:prstGeom>
          <a:solidFill>
            <a:srgbClr val="2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065775"/>
            <a:ext cx="4754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96519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Acquire first guests + bookings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4965192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91E24"/>
                </a:solidFill>
                <a:latin typeface="Arial"/>
              </a:defRPr>
            </a:pPr>
            <a:r>
              <a:t>Generate the evidence that the product actually works.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978"/>
                </a:solidFill>
                <a:latin typeface="Arial"/>
              </a:defRPr>
            </a:pPr>
            <a:r>
              <a:t>StayOS • Management Situation • 14 Aug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6"/>
                </a:solidFill>
                <a:latin typeface="Arial"/>
              </a:defRPr>
            </a:pPr>
            <a:r>
              <a:t>MANAGEMENT PRIORITY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978"/>
                </a:solidFill>
                <a:latin typeface="Arial"/>
              </a:defRPr>
            </a:pPr>
            <a:r>
              <a:t>The audit is useful only if it changes what we do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29000" cy="438912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82296" cy="4389120"/>
          </a:xfrm>
          <a:prstGeom prst="rect">
            <a:avLst/>
          </a:prstGeom>
          <a:solidFill>
            <a:srgbClr val="2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DO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91E24"/>
                </a:solidFill>
                <a:latin typeface="Arial"/>
              </a:defRPr>
            </a:pPr>
            <a:r>
              <a:t>• Provision environment</a:t>
            </a:r>
            <a:br/>
            <a:r>
              <a:t>• Configure real credentials</a:t>
            </a:r>
            <a:br/>
            <a:r>
              <a:t>• Run live smoke test</a:t>
            </a:r>
            <a:br/>
            <a:r>
              <a:t>• Run discovery engine</a:t>
            </a:r>
            <a:br/>
            <a:r>
              <a:t>• Contact New Cairo owners</a:t>
            </a:r>
            <a:br/>
            <a:r>
              <a:t>• Publish verified listings</a:t>
            </a:r>
            <a:br/>
            <a:r>
              <a:t>• Start host recruitment</a:t>
            </a:r>
            <a:br/>
            <a:r>
              <a:t>• Start first real bookings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25880"/>
            <a:ext cx="3429000" cy="438912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325880"/>
            <a:ext cx="82296" cy="4389120"/>
          </a:xfrm>
          <a:prstGeom prst="rect">
            <a:avLst/>
          </a:prstGeom>
          <a:solidFill>
            <a:srgbClr val="D6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4904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WAIT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1984248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91E24"/>
                </a:solidFill>
                <a:latin typeface="Arial"/>
              </a:defRPr>
            </a:pPr>
            <a:r>
              <a:t>• Unclaimed listing + claim UX</a:t>
            </a:r>
            <a:br/>
            <a:r>
              <a:t>• Map-based search</a:t>
            </a:r>
            <a:br/>
            <a:r>
              <a:t>• Egyptian wallets</a:t>
            </a:r>
            <a:br/>
            <a:r>
              <a:t>• Reviews &amp; ratings</a:t>
            </a:r>
            <a:br/>
            <a:r>
              <a:t>• Host analytics</a:t>
            </a:r>
            <a:br/>
            <a:r>
              <a:t>• Automated referral</a:t>
            </a:r>
            <a:br/>
            <a:r>
              <a:t>• Advanced cancellation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429000" cy="438912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82296" cy="438912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49047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DO NOT DO 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984248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91E24"/>
                </a:solidFill>
                <a:latin typeface="Arial"/>
              </a:defRPr>
            </a:pPr>
            <a:r>
              <a:t>• New discovery architecture</a:t>
            </a:r>
            <a:br/>
            <a:r>
              <a:t>• Mobile app</a:t>
            </a:r>
            <a:br/>
            <a:r>
              <a:t>• Real-time messaging</a:t>
            </a:r>
            <a:br/>
            <a:r>
              <a:t>• Enterprise scaling</a:t>
            </a:r>
            <a:br/>
            <a:r>
              <a:t>• Multi-AZ / CDN optimization</a:t>
            </a:r>
            <a:br/>
            <a:r>
              <a:t>• New audits just to plan more work</a:t>
            </a:r>
            <a:br/>
            <a:r>
              <a:t>• Any feature that does not help prove V1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978"/>
                </a:solidFill>
                <a:latin typeface="Arial"/>
              </a:defRPr>
            </a:pPr>
            <a:r>
              <a:t>StayOS • Management Situation • 14 Aug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RECOMMENDED MANAGEMENT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FFFFFF"/>
                </a:solidFill>
                <a:latin typeface="Arial"/>
              </a:defRPr>
            </a:pPr>
            <a:r>
              <a:t>One clear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rial"/>
              </a:defRPr>
            </a:pPr>
            <a:r>
              <a:t>STOP BUILDING SUPPLY FEATURES. START USING THE SUPPLY ENGINE.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97480"/>
            <a:ext cx="3246120" cy="2011680"/>
          </a:xfrm>
          <a:prstGeom prst="roundRect">
            <a:avLst/>
          </a:prstGeom>
          <a:solidFill>
            <a:srgbClr val="1C2D46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97480"/>
            <a:ext cx="82296" cy="2011680"/>
          </a:xfrm>
          <a:prstGeom prst="rect">
            <a:avLst/>
          </a:prstGeom>
          <a:solidFill>
            <a:srgbClr val="309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862072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55848"/>
            <a:ext cx="28346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91E24"/>
                </a:solidFill>
                <a:latin typeface="Arial"/>
              </a:defRPr>
            </a:pPr>
            <a:r>
              <a:t>The discovery/import tooling is already sufficient for the Closed Alpha supply objective.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697480"/>
            <a:ext cx="3246120" cy="2011680"/>
          </a:xfrm>
          <a:prstGeom prst="roundRect">
            <a:avLst/>
          </a:prstGeom>
          <a:solidFill>
            <a:srgbClr val="1C2D46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2697480"/>
            <a:ext cx="82296" cy="2011680"/>
          </a:xfrm>
          <a:prstGeom prst="rect">
            <a:avLst/>
          </a:prstGeom>
          <a:solidFill>
            <a:srgbClr val="24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862072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WHAT UNLOCKS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355848"/>
            <a:ext cx="28346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91E24"/>
                </a:solidFill>
                <a:latin typeface="Arial"/>
              </a:defRPr>
            </a:pPr>
            <a:r>
              <a:t>Real owner conversations → real verified listings → real bookings →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697480"/>
            <a:ext cx="3246120" cy="2011680"/>
          </a:xfrm>
          <a:prstGeom prst="roundRect">
            <a:avLst/>
          </a:prstGeom>
          <a:solidFill>
            <a:srgbClr val="1C2D46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697480"/>
            <a:ext cx="82296" cy="2011680"/>
          </a:xfrm>
          <a:prstGeom prst="rect">
            <a:avLst/>
          </a:prstGeom>
          <a:solidFill>
            <a:srgbClr val="D69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862072"/>
            <a:ext cx="2834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WHAT WE PROTECT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355848"/>
            <a:ext cx="28346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91E24"/>
                </a:solidFill>
                <a:latin typeface="Arial"/>
              </a:defRPr>
            </a:pPr>
            <a:r>
              <a:t>V1 scope discipline. No V2/V3 work before the marketplace proves itself.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16636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rial"/>
              </a:defRPr>
            </a:pPr>
            <a:r>
              <a:t>NEXT SINGLE PRIORITY: Get the environment running, then activate the discovery → owner outreach → verified listing pipeline.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978"/>
                </a:solidFill>
                <a:latin typeface="Arial"/>
              </a:defRPr>
            </a:pPr>
            <a:r>
              <a:t>StayOS • Management Decision • Based on 14 Aug 2026 audit evidence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F36"/>
                </a:solidFill>
                <a:latin typeface="Arial"/>
              </a:defRPr>
            </a:pPr>
            <a:r>
              <a:t>SOURCE &amp; GOVERNANCE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978"/>
                </a:solidFill>
                <a:latin typeface="Arial"/>
              </a:defRPr>
            </a:pPr>
            <a:r>
              <a:t>What this presentation is based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91E24"/>
                </a:solidFill>
                <a:latin typeface="Arial"/>
              </a:defRPr>
            </a:pPr>
            <a:r>
              <a:t>PRODUCT_VERSION_ROADMAP_AUDIT.md — 2026-08-14: current product state, V1/V2/V3 boundaries, Discovery Engine and supply activation.</a:t>
            </a:r>
          </a:p>
          <a:p>
            <a:pPr>
              <a:spcAft>
                <a:spcPts val="900"/>
              </a:spcAft>
              <a:defRPr sz="1600">
                <a:solidFill>
                  <a:srgbClr val="191E24"/>
                </a:solidFill>
                <a:latin typeface="Arial"/>
              </a:defRPr>
            </a:pPr>
            <a:r>
              <a:t>MANAGEMENT_SITUATION_ANALYSIS.md — 2026-08-14: current management diagnosis, blockers, critical path and decision.</a:t>
            </a:r>
          </a:p>
          <a:p>
            <a:pPr>
              <a:spcAft>
                <a:spcPts val="900"/>
              </a:spcAft>
              <a:defRPr sz="1600">
                <a:solidFill>
                  <a:srgbClr val="191E24"/>
                </a:solidFill>
                <a:latin typeface="Arial"/>
              </a:defRPr>
            </a:pPr>
            <a:r>
              <a:t>07_FINAL_EXECUTIVE_DECISION.md — 2026-08-03: highest-authority MVP Gate and locked commercial conditions.</a:t>
            </a:r>
          </a:p>
          <a:p>
            <a:pPr>
              <a:spcAft>
                <a:spcPts val="900"/>
              </a:spcAft>
              <a:defRPr sz="1600">
                <a:solidFill>
                  <a:srgbClr val="191E24"/>
                </a:solidFill>
                <a:latin typeface="Arial"/>
              </a:defRPr>
            </a:pPr>
            <a:r>
              <a:t>STAYOS_IMPLEMENTATION_BASELINE.md — 2026-07-27: engineering/alpha baseline.</a:t>
            </a:r>
          </a:p>
          <a:p>
            <a:pPr>
              <a:spcAft>
                <a:spcPts val="900"/>
              </a:spcAft>
              <a:defRPr sz="1600">
                <a:solidFill>
                  <a:srgbClr val="191E24"/>
                </a:solidFill>
                <a:latin typeface="Arial"/>
              </a:defRPr>
            </a:pPr>
            <a:r>
              <a:t>P0_IMPLEMENTATION_REPORT.md — referenced by the audit for CSV template, import fix, owner outreach template and PENDING_VERIFICATION work.</a:t>
            </a:r>
          </a:p>
          <a:p>
            <a:pPr>
              <a:spcAft>
                <a:spcPts val="900"/>
              </a:spcAft>
              <a:defRPr sz="1600">
                <a:solidFill>
                  <a:srgbClr val="191E24"/>
                </a:solidFill>
                <a:latin typeface="Arial"/>
              </a:defRPr>
            </a:pPr>
            <a:r>
              <a:t>Important: the audit itself states that historical chat was not used. Therefore, this deck distinguishes repository-backed facts from management interpretation.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623560"/>
            <a:ext cx="1060704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5623560"/>
            <a:ext cx="82296" cy="502920"/>
          </a:xfrm>
          <a:prstGeom prst="rect">
            <a:avLst/>
          </a:prstGeom>
          <a:solidFill>
            <a:srgbClr val="27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788152"/>
            <a:ext cx="10195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F36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281928"/>
            <a:ext cx="10195560" cy="-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91E24"/>
                </a:solidFill>
                <a:latin typeface="Arial"/>
              </a:defRPr>
            </a:pPr>
            <a:r>
              <a:t>High for current repository state; historical 'what we agreed' is represented only where supported by the supplied audit/baseline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E6978"/>
                </a:solidFill>
                <a:latin typeface="Arial"/>
              </a:defRPr>
            </a:pPr>
            <a:r>
              <a:t>StayOS • Management Situation • 14 Aug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